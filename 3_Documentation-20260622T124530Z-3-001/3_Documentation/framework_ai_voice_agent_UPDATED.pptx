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8229600"/>
  <p:notesSz cx="7559675" cy="10691813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280" cy="1106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9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1523880" y="1912680"/>
            <a:ext cx="3650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8" name="CustomShape 2"/>
          <p:cNvSpPr/>
          <p:nvPr/>
        </p:nvSpPr>
        <p:spPr>
          <a:xfrm>
            <a:off x="971640" y="1912680"/>
            <a:ext cx="3650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39" name="CustomShape 3"/>
          <p:cNvSpPr/>
          <p:nvPr/>
        </p:nvSpPr>
        <p:spPr>
          <a:xfrm>
            <a:off x="792360" y="1290600"/>
            <a:ext cx="2505960" cy="2088000"/>
          </a:xfrm>
          <a:prstGeom prst="roundRect">
            <a:avLst>
              <a:gd name="adj" fmla="val 5284"/>
            </a:avLst>
          </a:prstGeom>
          <a:solidFill>
            <a:srgbClr val="F7D876"/>
          </a:solidFill>
          <a:ln>
            <a:solidFill>
              <a:srgbClr val="FFFFFF"/>
            </a:solidFill>
          </a:ln>
          <a:effectLst>
            <a:innerShdw blurRad="114300">
              <a:srgbClr val="FFC0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0" name="CustomShape 4"/>
          <p:cNvSpPr/>
          <p:nvPr/>
        </p:nvSpPr>
        <p:spPr>
          <a:xfrm>
            <a:off x="846000" y="1847520"/>
            <a:ext cx="2378520" cy="14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1" name="CustomShape 5"/>
          <p:cNvSpPr/>
          <p:nvPr/>
        </p:nvSpPr>
        <p:spPr>
          <a:xfrm>
            <a:off x="1251720" y="1907280"/>
            <a:ext cx="16750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Legal Documents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2" name="CustomShape 6"/>
          <p:cNvSpPr/>
          <p:nvPr/>
        </p:nvSpPr>
        <p:spPr>
          <a:xfrm>
            <a:off x="1228680" y="2219400"/>
            <a:ext cx="186876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Service Descriptions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3" name="CustomShape 7"/>
          <p:cNvSpPr/>
          <p:nvPr/>
        </p:nvSpPr>
        <p:spPr>
          <a:xfrm>
            <a:off x="1244160" y="2506320"/>
            <a:ext cx="126216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DejaVu Sans"/>
              </a:rPr>
              <a:t>FAQs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4" name="CustomShape 8"/>
          <p:cNvSpPr/>
          <p:nvPr/>
        </p:nvSpPr>
        <p:spPr>
          <a:xfrm>
            <a:off x="1198440" y="2844000"/>
            <a:ext cx="1858320" cy="4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DejaVu Sans"/>
              </a:rPr>
              <a:t>Arabic Spoken Queries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5" name="Line 9"/>
          <p:cNvSpPr/>
          <p:nvPr/>
        </p:nvSpPr>
        <p:spPr>
          <a:xfrm>
            <a:off x="1251360" y="221076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6" name="CustomShape 10"/>
          <p:cNvSpPr/>
          <p:nvPr/>
        </p:nvSpPr>
        <p:spPr>
          <a:xfrm>
            <a:off x="810360" y="1344960"/>
            <a:ext cx="267048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Dataset / Knowledge                                     Sources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7" name="Line 11"/>
          <p:cNvSpPr/>
          <p:nvPr/>
        </p:nvSpPr>
        <p:spPr>
          <a:xfrm>
            <a:off x="1243800" y="251568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8" name="Line 12"/>
          <p:cNvSpPr/>
          <p:nvPr/>
        </p:nvSpPr>
        <p:spPr>
          <a:xfrm>
            <a:off x="1304640" y="280512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49" name="CustomShape 13"/>
          <p:cNvSpPr/>
          <p:nvPr/>
        </p:nvSpPr>
        <p:spPr>
          <a:xfrm>
            <a:off x="449280" y="4248360"/>
            <a:ext cx="3132000" cy="1578600"/>
          </a:xfrm>
          <a:prstGeom prst="roundRect">
            <a:avLst>
              <a:gd name="adj" fmla="val 7047"/>
            </a:avLst>
          </a:prstGeom>
          <a:solidFill>
            <a:srgbClr val="D9E1F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0" name="CustomShape 14"/>
          <p:cNvSpPr/>
          <p:nvPr/>
        </p:nvSpPr>
        <p:spPr>
          <a:xfrm>
            <a:off x="469080" y="4593600"/>
            <a:ext cx="2983320" cy="11275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1" name="CustomShape 15"/>
          <p:cNvSpPr/>
          <p:nvPr/>
        </p:nvSpPr>
        <p:spPr>
          <a:xfrm>
            <a:off x="1050120" y="4617000"/>
            <a:ext cx="2052720" cy="4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Text Split and Chunking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2" name="CustomShape 16"/>
          <p:cNvSpPr/>
          <p:nvPr/>
        </p:nvSpPr>
        <p:spPr>
          <a:xfrm>
            <a:off x="1068120" y="5028480"/>
            <a:ext cx="205272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Embeddings Creation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3" name="CustomShape 17"/>
          <p:cNvSpPr/>
          <p:nvPr/>
        </p:nvSpPr>
        <p:spPr>
          <a:xfrm>
            <a:off x="1075320" y="5365080"/>
            <a:ext cx="205272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Store to Vector DB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4" name="CustomShape 18"/>
          <p:cNvSpPr/>
          <p:nvPr/>
        </p:nvSpPr>
        <p:spPr>
          <a:xfrm>
            <a:off x="605880" y="4262400"/>
            <a:ext cx="304596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Data Preparation / Preprocessing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5" name="Line 19"/>
          <p:cNvSpPr/>
          <p:nvPr/>
        </p:nvSpPr>
        <p:spPr>
          <a:xfrm flipV="1">
            <a:off x="870480" y="5002920"/>
            <a:ext cx="2399040" cy="280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6" name="Line 20"/>
          <p:cNvSpPr/>
          <p:nvPr/>
        </p:nvSpPr>
        <p:spPr>
          <a:xfrm flipV="1">
            <a:off x="828000" y="5328360"/>
            <a:ext cx="2399040" cy="2808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7" name="CustomShape 21"/>
          <p:cNvSpPr/>
          <p:nvPr/>
        </p:nvSpPr>
        <p:spPr>
          <a:xfrm>
            <a:off x="3704400" y="2374920"/>
            <a:ext cx="7588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Caller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58" name="CustomShape 22"/>
          <p:cNvSpPr/>
          <p:nvPr/>
        </p:nvSpPr>
        <p:spPr>
          <a:xfrm>
            <a:off x="1960920" y="3360240"/>
            <a:ext cx="360" cy="861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F6EC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59" name="CustomShape 23"/>
          <p:cNvSpPr/>
          <p:nvPr/>
        </p:nvSpPr>
        <p:spPr>
          <a:xfrm>
            <a:off x="3343320" y="2154960"/>
            <a:ext cx="3571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F6EC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0" name="CustomShape 24"/>
          <p:cNvSpPr/>
          <p:nvPr/>
        </p:nvSpPr>
        <p:spPr>
          <a:xfrm>
            <a:off x="5178960" y="189972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1" name="CustomShape 25"/>
          <p:cNvSpPr/>
          <p:nvPr/>
        </p:nvSpPr>
        <p:spPr>
          <a:xfrm>
            <a:off x="4730400" y="189972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2" name="CustomShape 26"/>
          <p:cNvSpPr/>
          <p:nvPr/>
        </p:nvSpPr>
        <p:spPr>
          <a:xfrm>
            <a:off x="4634280" y="1449360"/>
            <a:ext cx="1715400" cy="1916280"/>
          </a:xfrm>
          <a:prstGeom prst="roundRect">
            <a:avLst>
              <a:gd name="adj" fmla="val 5284"/>
            </a:avLst>
          </a:prstGeom>
          <a:solidFill>
            <a:srgbClr val="F7D876"/>
          </a:solidFill>
          <a:ln>
            <a:solidFill>
              <a:srgbClr val="FFFFFF"/>
            </a:solidFill>
          </a:ln>
          <a:effectLst>
            <a:innerShdw blurRad="114300">
              <a:srgbClr val="FFC0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3" name="CustomShape 27"/>
          <p:cNvSpPr/>
          <p:nvPr/>
        </p:nvSpPr>
        <p:spPr>
          <a:xfrm>
            <a:off x="4758120" y="1962000"/>
            <a:ext cx="1502280" cy="12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4" name="CustomShape 28"/>
          <p:cNvSpPr/>
          <p:nvPr/>
        </p:nvSpPr>
        <p:spPr>
          <a:xfrm>
            <a:off x="4548240" y="1449360"/>
            <a:ext cx="18273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00" b="1" strike="noStrike" spc="-1">
                <a:solidFill>
                  <a:srgbClr val="000000"/>
                </a:solidFill>
                <a:latin typeface="Aptos"/>
                <a:ea typeface="DejaVu Sans"/>
              </a:rPr>
              <a:t>Streaming ASR  Speech To Text Comparison :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5" name="CustomShape 29"/>
          <p:cNvSpPr/>
          <p:nvPr/>
        </p:nvSpPr>
        <p:spPr>
          <a:xfrm>
            <a:off x="4769280" y="2028960"/>
            <a:ext cx="1453680" cy="28692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 dirty="0">
                <a:solidFill>
                  <a:srgbClr val="000000"/>
                </a:solidFill>
                <a:latin typeface="Aptos"/>
                <a:ea typeface="DejaVu Sans"/>
              </a:rPr>
              <a:t>Whisper-large-v3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66" name="CustomShape 30"/>
          <p:cNvSpPr/>
          <p:nvPr/>
        </p:nvSpPr>
        <p:spPr>
          <a:xfrm>
            <a:off x="4771440" y="2405160"/>
            <a:ext cx="1479240" cy="3042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strike="noStrike" spc="-1" dirty="0">
                <a:solidFill>
                  <a:srgbClr val="000000"/>
                </a:solidFill>
                <a:latin typeface="Aptos"/>
                <a:ea typeface="DejaVu Sans"/>
              </a:rPr>
              <a:t>Whisper-small</a:t>
            </a:r>
            <a:endParaRPr lang="en-US" sz="800" b="0" strike="noStrike" spc="-1" dirty="0">
              <a:latin typeface="Arial"/>
            </a:endParaRPr>
          </a:p>
        </p:txBody>
      </p:sp>
      <p:sp>
        <p:nvSpPr>
          <p:cNvPr id="67" name="CustomShape 31"/>
          <p:cNvSpPr/>
          <p:nvPr/>
        </p:nvSpPr>
        <p:spPr>
          <a:xfrm>
            <a:off x="4771440" y="2764080"/>
            <a:ext cx="1479240" cy="3294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1" strike="noStrike" spc="-1">
                <a:solidFill>
                  <a:srgbClr val="000000"/>
                </a:solidFill>
                <a:latin typeface="Aptos"/>
                <a:ea typeface="DejaVu Sans"/>
              </a:rPr>
              <a:t>faster-whisper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8" name="CustomShape 32"/>
          <p:cNvSpPr/>
          <p:nvPr/>
        </p:nvSpPr>
        <p:spPr>
          <a:xfrm>
            <a:off x="7027920" y="189900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69" name="CustomShape 33"/>
          <p:cNvSpPr/>
          <p:nvPr/>
        </p:nvSpPr>
        <p:spPr>
          <a:xfrm>
            <a:off x="6579000" y="189900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0" name="CustomShape 34"/>
          <p:cNvSpPr/>
          <p:nvPr/>
        </p:nvSpPr>
        <p:spPr>
          <a:xfrm>
            <a:off x="6516360" y="1448640"/>
            <a:ext cx="1715400" cy="1916280"/>
          </a:xfrm>
          <a:prstGeom prst="roundRect">
            <a:avLst>
              <a:gd name="adj" fmla="val 5284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FFFF"/>
            </a:solidFill>
          </a:ln>
          <a:effectLst>
            <a:innerShdw blurRad="114300">
              <a:srgbClr val="FFC0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1" name="CustomShape 35"/>
          <p:cNvSpPr/>
          <p:nvPr/>
        </p:nvSpPr>
        <p:spPr>
          <a:xfrm>
            <a:off x="6606720" y="1961640"/>
            <a:ext cx="1502280" cy="12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2" name="CustomShape 36"/>
          <p:cNvSpPr/>
          <p:nvPr/>
        </p:nvSpPr>
        <p:spPr>
          <a:xfrm>
            <a:off x="6528240" y="1416960"/>
            <a:ext cx="173088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000000"/>
                </a:solidFill>
                <a:latin typeface="Aptos"/>
                <a:ea typeface="DejaVu Sans"/>
              </a:rPr>
              <a:t>RAG Comparison :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9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Retrieval-Augmented Generation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73" name="CustomShape 37"/>
          <p:cNvSpPr/>
          <p:nvPr/>
        </p:nvSpPr>
        <p:spPr>
          <a:xfrm>
            <a:off x="6694920" y="2042640"/>
            <a:ext cx="1353600" cy="30168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000000"/>
                </a:solidFill>
                <a:latin typeface="Calibri"/>
                <a:ea typeface="DejaVu Sans"/>
              </a:rPr>
              <a:t>Dense Retrieval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4" name="CustomShape 38"/>
          <p:cNvSpPr/>
          <p:nvPr/>
        </p:nvSpPr>
        <p:spPr>
          <a:xfrm>
            <a:off x="6670440" y="2415240"/>
            <a:ext cx="1370880" cy="30168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Hybrid Retrieval</a:t>
            </a:r>
            <a:endParaRPr lang="en-US" sz="1050" b="0" strike="noStrike" spc="-1" dirty="0">
              <a:latin typeface="Arial"/>
            </a:endParaRPr>
          </a:p>
        </p:txBody>
      </p:sp>
      <p:sp>
        <p:nvSpPr>
          <p:cNvPr id="75" name="CustomShape 39"/>
          <p:cNvSpPr/>
          <p:nvPr/>
        </p:nvSpPr>
        <p:spPr>
          <a:xfrm>
            <a:off x="6687720" y="2788560"/>
            <a:ext cx="1360800" cy="33012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Hybrid + </a:t>
            </a:r>
            <a:r>
              <a:rPr lang="en-US" sz="9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Reranker</a:t>
            </a:r>
            <a:endParaRPr lang="en-US" sz="900" b="0" strike="noStrike" spc="-1" dirty="0">
              <a:latin typeface="Arial"/>
            </a:endParaRPr>
          </a:p>
        </p:txBody>
      </p:sp>
      <p:sp>
        <p:nvSpPr>
          <p:cNvPr id="76" name="CustomShape 40"/>
          <p:cNvSpPr/>
          <p:nvPr/>
        </p:nvSpPr>
        <p:spPr>
          <a:xfrm>
            <a:off x="8898840" y="190692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7" name="CustomShape 41"/>
          <p:cNvSpPr/>
          <p:nvPr/>
        </p:nvSpPr>
        <p:spPr>
          <a:xfrm>
            <a:off x="8449920" y="1906920"/>
            <a:ext cx="29628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8" name="CustomShape 42"/>
          <p:cNvSpPr/>
          <p:nvPr/>
        </p:nvSpPr>
        <p:spPr>
          <a:xfrm>
            <a:off x="8387280" y="1456920"/>
            <a:ext cx="1715400" cy="1916280"/>
          </a:xfrm>
          <a:prstGeom prst="roundRect">
            <a:avLst>
              <a:gd name="adj" fmla="val 5284"/>
            </a:avLst>
          </a:prstGeom>
          <a:solidFill>
            <a:srgbClr val="7461B1"/>
          </a:solidFill>
          <a:ln>
            <a:solidFill>
              <a:srgbClr val="002060"/>
            </a:solidFill>
          </a:ln>
          <a:effectLst>
            <a:innerShdw blurRad="114300">
              <a:schemeClr val="accent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79" name="CustomShape 43"/>
          <p:cNvSpPr/>
          <p:nvPr/>
        </p:nvSpPr>
        <p:spPr>
          <a:xfrm>
            <a:off x="8477640" y="1969560"/>
            <a:ext cx="1502280" cy="12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0" name="CustomShape 44"/>
          <p:cNvSpPr/>
          <p:nvPr/>
        </p:nvSpPr>
        <p:spPr>
          <a:xfrm>
            <a:off x="8232120" y="1891440"/>
            <a:ext cx="158040" cy="6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F6EC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1" name="CustomShape 45"/>
          <p:cNvSpPr/>
          <p:nvPr/>
        </p:nvSpPr>
        <p:spPr>
          <a:xfrm>
            <a:off x="8438040" y="1456920"/>
            <a:ext cx="15915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Aptos"/>
                <a:ea typeface="DejaVu Sans"/>
              </a:rPr>
              <a:t>LLM Comparison: Answer Generation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82" name="CustomShape 46"/>
          <p:cNvSpPr/>
          <p:nvPr/>
        </p:nvSpPr>
        <p:spPr>
          <a:xfrm>
            <a:off x="8537400" y="2077920"/>
            <a:ext cx="1366560" cy="319680"/>
          </a:xfrm>
          <a:prstGeom prst="roundRect">
            <a:avLst>
              <a:gd name="adj" fmla="val 16667"/>
            </a:avLst>
          </a:prstGeom>
          <a:solidFill>
            <a:srgbClr val="7461B1"/>
          </a:solidFill>
          <a:ln>
            <a:solidFill>
              <a:srgbClr val="7461B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ALLaM-7B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3" name="CustomShape 47"/>
          <p:cNvSpPr/>
          <p:nvPr/>
        </p:nvSpPr>
        <p:spPr>
          <a:xfrm>
            <a:off x="8537040" y="2444760"/>
            <a:ext cx="1366560" cy="319680"/>
          </a:xfrm>
          <a:prstGeom prst="roundRect">
            <a:avLst>
              <a:gd name="adj" fmla="val 16667"/>
            </a:avLst>
          </a:prstGeom>
          <a:solidFill>
            <a:srgbClr val="7461B1"/>
          </a:solidFill>
          <a:ln>
            <a:solidFill>
              <a:schemeClr val="tx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50" b="1" strike="noStrike" spc="-1">
                <a:solidFill>
                  <a:srgbClr val="FFFFFF"/>
                </a:solidFill>
                <a:latin typeface="Aptos"/>
                <a:ea typeface="DejaVu Sans"/>
              </a:rPr>
              <a:t>Qwen2.5-7B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84" name="CustomShape 48"/>
          <p:cNvSpPr/>
          <p:nvPr/>
        </p:nvSpPr>
        <p:spPr>
          <a:xfrm>
            <a:off x="8537040" y="2820600"/>
            <a:ext cx="1366560" cy="354960"/>
          </a:xfrm>
          <a:prstGeom prst="roundRect">
            <a:avLst>
              <a:gd name="adj" fmla="val 16667"/>
            </a:avLst>
          </a:prstGeom>
          <a:solidFill>
            <a:srgbClr val="7461B1"/>
          </a:solidFill>
          <a:ln>
            <a:solidFill>
              <a:srgbClr val="7461B1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Aptos"/>
                <a:ea typeface="DejaVu Sans"/>
              </a:rPr>
              <a:t>Guardrails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85" name="CustomShape 49"/>
          <p:cNvSpPr/>
          <p:nvPr/>
        </p:nvSpPr>
        <p:spPr>
          <a:xfrm>
            <a:off x="2351520" y="6150600"/>
            <a:ext cx="3992760" cy="1351080"/>
          </a:xfrm>
          <a:prstGeom prst="roundRect">
            <a:avLst>
              <a:gd name="adj" fmla="val 7047"/>
            </a:avLst>
          </a:prstGeom>
          <a:solidFill>
            <a:srgbClr val="ECEAED"/>
          </a:solidFill>
          <a:ln/>
          <a:effectLst>
            <a:outerShdw blurRad="50800" dist="50760" dir="5400000" algn="ctr" rotWithShape="0">
              <a:srgbClr val="EDEBEE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Evaluation Module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ASR Metrics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WER, CER, latency 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RAG Metrics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Recall@k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Precision@k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MRR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LLM Metrics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Accuracy, Faithfulness, Hallucination Rate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TTS Metrics: </a:t>
            </a:r>
            <a:r>
              <a:rPr lang="en-US" sz="1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MOS, Naturalness, Intelligibility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86" name="CustomShape 50"/>
          <p:cNvSpPr/>
          <p:nvPr/>
        </p:nvSpPr>
        <p:spPr>
          <a:xfrm>
            <a:off x="10030320" y="4244400"/>
            <a:ext cx="2103480" cy="1387080"/>
          </a:xfrm>
          <a:prstGeom prst="roundRect">
            <a:avLst>
              <a:gd name="adj" fmla="val 7047"/>
            </a:avLst>
          </a:prstGeom>
          <a:solidFill>
            <a:srgbClr val="D9E1F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7" name="CustomShape 51"/>
          <p:cNvSpPr/>
          <p:nvPr/>
        </p:nvSpPr>
        <p:spPr>
          <a:xfrm>
            <a:off x="10128960" y="4776120"/>
            <a:ext cx="1778400" cy="7473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88" name="CustomShape 52"/>
          <p:cNvSpPr/>
          <p:nvPr/>
        </p:nvSpPr>
        <p:spPr>
          <a:xfrm>
            <a:off x="3971880" y="4215960"/>
            <a:ext cx="1763640" cy="1013760"/>
          </a:xfrm>
          <a:prstGeom prst="roundRect">
            <a:avLst>
              <a:gd name="adj" fmla="val 7047"/>
            </a:avLst>
          </a:prstGeom>
          <a:solidFill>
            <a:srgbClr val="EDEBEE"/>
          </a:solidFill>
          <a:ln>
            <a:noFill/>
          </a:ln>
          <a:effectLst>
            <a:outerShdw blurRad="50800" dist="50760" dir="5400000" algn="ctr" rotWithShape="0">
              <a:srgbClr val="EDEBEE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Vector Database </a:t>
            </a:r>
            <a:r>
              <a:rPr lang="en-US" sz="1100" b="0" strike="noStrike" spc="-1">
                <a:solidFill>
                  <a:srgbClr val="000000"/>
                </a:solidFill>
                <a:latin typeface="Calibri"/>
                <a:ea typeface="DejaVu Sans"/>
              </a:rPr>
              <a:t>ChromaDB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89" name="CustomShape 53"/>
          <p:cNvSpPr/>
          <p:nvPr/>
        </p:nvSpPr>
        <p:spPr>
          <a:xfrm>
            <a:off x="7668000" y="6364800"/>
            <a:ext cx="3213360" cy="924120"/>
          </a:xfrm>
          <a:prstGeom prst="roundRect">
            <a:avLst>
              <a:gd name="adj" fmla="val 7047"/>
            </a:avLst>
          </a:prstGeom>
          <a:solidFill>
            <a:srgbClr val="4579C2"/>
          </a:solidFill>
          <a:ln/>
          <a:effectLst>
            <a:outerShdw blurRad="50800" dist="50760" dir="5400000" algn="ctr" rotWithShape="0">
              <a:srgbClr val="EDEBEE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0" name="CustomShape 54"/>
          <p:cNvSpPr/>
          <p:nvPr/>
        </p:nvSpPr>
        <p:spPr>
          <a:xfrm>
            <a:off x="12133800" y="2536920"/>
            <a:ext cx="205272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AI Voice Response Output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1" name="CustomShape 55"/>
          <p:cNvSpPr/>
          <p:nvPr/>
        </p:nvSpPr>
        <p:spPr>
          <a:xfrm>
            <a:off x="10100880" y="4109760"/>
            <a:ext cx="1778400" cy="72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DejaVu Sans"/>
              </a:rPr>
              <a:t>Latency Control </a:t>
            </a:r>
            <a:endParaRPr lang="en-US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200" b="0" strike="noStrike" spc="-1">
              <a:latin typeface="Arial"/>
            </a:endParaRPr>
          </a:p>
        </p:txBody>
      </p:sp>
      <p:sp>
        <p:nvSpPr>
          <p:cNvPr id="92" name="CustomShape 56"/>
          <p:cNvSpPr/>
          <p:nvPr/>
        </p:nvSpPr>
        <p:spPr>
          <a:xfrm>
            <a:off x="10666440" y="4881960"/>
            <a:ext cx="1257120" cy="59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DejaVu Sans"/>
              </a:rPr>
              <a:t>Speed vs Quality Trade-off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3" name="CustomShape 57"/>
          <p:cNvSpPr/>
          <p:nvPr/>
        </p:nvSpPr>
        <p:spPr>
          <a:xfrm flipV="1">
            <a:off x="3582000" y="5027760"/>
            <a:ext cx="346320" cy="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4" name="CustomShape 58"/>
          <p:cNvSpPr/>
          <p:nvPr/>
        </p:nvSpPr>
        <p:spPr>
          <a:xfrm>
            <a:off x="1960920" y="213480"/>
            <a:ext cx="10616040" cy="657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2451A0"/>
              </a:gs>
              <a:gs pos="100000">
                <a:srgbClr val="2E69D0"/>
              </a:gs>
            </a:gsLst>
            <a:lin ang="16200000"/>
          </a:gra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latin typeface="Calibri"/>
                <a:ea typeface="DejaVu Sans"/>
              </a:rPr>
              <a:t>Experimental Framework: AI-Powered Arabic Voice Agent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5" name="CustomShape 59"/>
          <p:cNvSpPr/>
          <p:nvPr/>
        </p:nvSpPr>
        <p:spPr>
          <a:xfrm>
            <a:off x="8042040" y="6681960"/>
            <a:ext cx="256932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5FAF6"/>
                </a:solidFill>
                <a:latin typeface="Aptos"/>
                <a:ea typeface="DejaVu Sans"/>
              </a:rPr>
              <a:t>Feedback Loop   (Future Work)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5FAF6"/>
                </a:solidFill>
                <a:latin typeface="Aptos"/>
                <a:ea typeface="DejaVu Sans"/>
              </a:rPr>
              <a:t>Improvement Pipeline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96" name="Line 60"/>
          <p:cNvSpPr/>
          <p:nvPr/>
        </p:nvSpPr>
        <p:spPr>
          <a:xfrm flipV="1">
            <a:off x="5519880" y="1187280"/>
            <a:ext cx="7544160" cy="1872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7" name="CustomShape 61"/>
          <p:cNvSpPr/>
          <p:nvPr/>
        </p:nvSpPr>
        <p:spPr>
          <a:xfrm flipH="1">
            <a:off x="5513760" y="1213560"/>
            <a:ext cx="10080" cy="242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8" name="CustomShape 62"/>
          <p:cNvSpPr/>
          <p:nvPr/>
        </p:nvSpPr>
        <p:spPr>
          <a:xfrm>
            <a:off x="7337520" y="1226160"/>
            <a:ext cx="360" cy="242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99" name="CustomShape 63"/>
          <p:cNvSpPr/>
          <p:nvPr/>
        </p:nvSpPr>
        <p:spPr>
          <a:xfrm>
            <a:off x="9208440" y="1218960"/>
            <a:ext cx="360" cy="242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0" name="CustomShape 64"/>
          <p:cNvSpPr/>
          <p:nvPr/>
        </p:nvSpPr>
        <p:spPr>
          <a:xfrm>
            <a:off x="13064400" y="1206360"/>
            <a:ext cx="360" cy="47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1" name="CustomShape 65"/>
          <p:cNvSpPr/>
          <p:nvPr/>
        </p:nvSpPr>
        <p:spPr>
          <a:xfrm flipV="1">
            <a:off x="7053120" y="4986720"/>
            <a:ext cx="836280" cy="9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2" name="CustomShape 66"/>
          <p:cNvSpPr/>
          <p:nvPr/>
        </p:nvSpPr>
        <p:spPr>
          <a:xfrm flipH="1">
            <a:off x="4710961" y="5253840"/>
            <a:ext cx="45719" cy="896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accent1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3" name="CustomShape 67"/>
          <p:cNvSpPr/>
          <p:nvPr/>
        </p:nvSpPr>
        <p:spPr>
          <a:xfrm>
            <a:off x="10243440" y="1456920"/>
            <a:ext cx="1715400" cy="191628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4" name="CustomShape 68"/>
          <p:cNvSpPr/>
          <p:nvPr/>
        </p:nvSpPr>
        <p:spPr>
          <a:xfrm>
            <a:off x="10333800" y="1969560"/>
            <a:ext cx="1502640" cy="1278000"/>
          </a:xfrm>
          <a:prstGeom prst="rect">
            <a:avLst/>
          </a:prstGeom>
          <a:solidFill>
            <a:srgbClr val="FFF0F0"/>
          </a:solidFill>
          <a:ln>
            <a:noFill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05" name="CustomShape 69"/>
          <p:cNvSpPr/>
          <p:nvPr/>
        </p:nvSpPr>
        <p:spPr>
          <a:xfrm>
            <a:off x="10294200" y="1456920"/>
            <a:ext cx="1591560" cy="59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Streaming </a:t>
            </a: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TTS Comparison:</a:t>
            </a:r>
            <a:endParaRPr lang="en-US" sz="11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FFFFFF"/>
                </a:solidFill>
                <a:latin typeface="Aptos"/>
                <a:ea typeface="DejaVu Sans"/>
              </a:rPr>
              <a:t>Text to Speech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06" name="CustomShape 70"/>
          <p:cNvSpPr/>
          <p:nvPr/>
        </p:nvSpPr>
        <p:spPr>
          <a:xfrm>
            <a:off x="10397880" y="2067840"/>
            <a:ext cx="1378800" cy="259560"/>
          </a:xfrm>
          <a:prstGeom prst="roundRect">
            <a:avLst>
              <a:gd name="adj" fmla="val 16667"/>
            </a:avLst>
          </a:prstGeom>
          <a:solidFill>
            <a:srgbClr val="F4A0A0"/>
          </a:solidFill>
          <a:ln w="12600">
            <a:solidFill>
              <a:srgbClr val="E84D4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  <a:ea typeface="DejaVu Sans"/>
              </a:rPr>
              <a:t>ElevenLabs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07" name="CustomShape 71"/>
          <p:cNvSpPr/>
          <p:nvPr/>
        </p:nvSpPr>
        <p:spPr>
          <a:xfrm>
            <a:off x="10397880" y="2412720"/>
            <a:ext cx="1378800" cy="281520"/>
          </a:xfrm>
          <a:prstGeom prst="roundRect">
            <a:avLst>
              <a:gd name="adj" fmla="val 16667"/>
            </a:avLst>
          </a:prstGeom>
          <a:solidFill>
            <a:srgbClr val="F4A0A0"/>
          </a:solidFill>
          <a:ln w="12600">
            <a:solidFill>
              <a:srgbClr val="E84D4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MMS-TTS (local)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108" name="CustomShape 72"/>
          <p:cNvSpPr/>
          <p:nvPr/>
        </p:nvSpPr>
        <p:spPr>
          <a:xfrm>
            <a:off x="10397880" y="2771280"/>
            <a:ext cx="1378800" cy="307440"/>
          </a:xfrm>
          <a:prstGeom prst="roundRect">
            <a:avLst>
              <a:gd name="adj" fmla="val 16667"/>
            </a:avLst>
          </a:prstGeom>
          <a:solidFill>
            <a:srgbClr val="F4A0A0"/>
          </a:solidFill>
          <a:ln w="12600">
            <a:solidFill>
              <a:srgbClr val="E84D4D"/>
            </a:solidFill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b="1" strike="noStrike" spc="-1">
                <a:solidFill>
                  <a:srgbClr val="000000"/>
                </a:solidFill>
                <a:latin typeface="Calibri"/>
                <a:ea typeface="DejaVu Sans"/>
              </a:rPr>
              <a:t>Edge TTS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09" name="CustomShape 73"/>
          <p:cNvSpPr/>
          <p:nvPr/>
        </p:nvSpPr>
        <p:spPr>
          <a:xfrm>
            <a:off x="11077560" y="1226160"/>
            <a:ext cx="360" cy="242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0" name="CustomShape 74"/>
          <p:cNvSpPr/>
          <p:nvPr/>
        </p:nvSpPr>
        <p:spPr>
          <a:xfrm flipV="1">
            <a:off x="6356520" y="1889640"/>
            <a:ext cx="176760" cy="3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F6EC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1" name="CustomShape 75"/>
          <p:cNvSpPr/>
          <p:nvPr/>
        </p:nvSpPr>
        <p:spPr>
          <a:xfrm flipV="1">
            <a:off x="10103760" y="1873800"/>
            <a:ext cx="176760" cy="3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F6EC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2" name="CustomShape 76"/>
          <p:cNvSpPr/>
          <p:nvPr/>
        </p:nvSpPr>
        <p:spPr>
          <a:xfrm>
            <a:off x="7421400" y="4758840"/>
            <a:ext cx="3650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3" name="CustomShape 77"/>
          <p:cNvSpPr/>
          <p:nvPr/>
        </p:nvSpPr>
        <p:spPr>
          <a:xfrm>
            <a:off x="6869160" y="4758840"/>
            <a:ext cx="3650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4" name="CustomShape 78"/>
          <p:cNvSpPr/>
          <p:nvPr/>
        </p:nvSpPr>
        <p:spPr>
          <a:xfrm>
            <a:off x="6689880" y="4136760"/>
            <a:ext cx="2505960" cy="2088000"/>
          </a:xfrm>
          <a:prstGeom prst="roundRect">
            <a:avLst>
              <a:gd name="adj" fmla="val 5284"/>
            </a:avLst>
          </a:prstGeom>
          <a:solidFill>
            <a:srgbClr val="F7D876"/>
          </a:solidFill>
          <a:ln>
            <a:solidFill>
              <a:srgbClr val="FFFFFF"/>
            </a:solidFill>
          </a:ln>
          <a:effectLst>
            <a:innerShdw blurRad="114300">
              <a:srgbClr val="FFC0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5" name="CustomShape 79"/>
          <p:cNvSpPr/>
          <p:nvPr/>
        </p:nvSpPr>
        <p:spPr>
          <a:xfrm>
            <a:off x="6743880" y="4693320"/>
            <a:ext cx="2378520" cy="14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16" name="CustomShape 80"/>
          <p:cNvSpPr/>
          <p:nvPr/>
        </p:nvSpPr>
        <p:spPr>
          <a:xfrm>
            <a:off x="7149240" y="4753080"/>
            <a:ext cx="167508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Session Tracking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7" name="CustomShape 81"/>
          <p:cNvSpPr/>
          <p:nvPr/>
        </p:nvSpPr>
        <p:spPr>
          <a:xfrm>
            <a:off x="7126200" y="5065560"/>
            <a:ext cx="186876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Short Term Memory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8" name="CustomShape 82"/>
          <p:cNvSpPr/>
          <p:nvPr/>
        </p:nvSpPr>
        <p:spPr>
          <a:xfrm>
            <a:off x="7220880" y="5687280"/>
            <a:ext cx="1884960" cy="257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Calibri"/>
                <a:ea typeface="DejaVu Sans"/>
              </a:rPr>
              <a:t>History Awareness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9" name="Line 83"/>
          <p:cNvSpPr/>
          <p:nvPr/>
        </p:nvSpPr>
        <p:spPr>
          <a:xfrm>
            <a:off x="7148880" y="505692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0" name="CustomShape 84"/>
          <p:cNvSpPr/>
          <p:nvPr/>
        </p:nvSpPr>
        <p:spPr>
          <a:xfrm>
            <a:off x="6635880" y="4222080"/>
            <a:ext cx="267048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1" strike="noStrike" spc="-1">
                <a:solidFill>
                  <a:srgbClr val="000000"/>
                </a:solidFill>
                <a:latin typeface="Aptos"/>
                <a:ea typeface="DejaVu Sans"/>
              </a:rPr>
              <a:t>Conversation Manager and Memory 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21" name="Line 85"/>
          <p:cNvSpPr/>
          <p:nvPr/>
        </p:nvSpPr>
        <p:spPr>
          <a:xfrm>
            <a:off x="7145640" y="538236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2" name="Line 86"/>
          <p:cNvSpPr/>
          <p:nvPr/>
        </p:nvSpPr>
        <p:spPr>
          <a:xfrm>
            <a:off x="7195320" y="5649120"/>
            <a:ext cx="161244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87"/>
          <p:cNvSpPr/>
          <p:nvPr/>
        </p:nvSpPr>
        <p:spPr>
          <a:xfrm>
            <a:off x="7138800" y="5384160"/>
            <a:ext cx="2058480" cy="227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1" strike="noStrike" spc="-1">
                <a:solidFill>
                  <a:srgbClr val="000000"/>
                </a:solidFill>
                <a:latin typeface="Aptos"/>
                <a:ea typeface="DejaVu Sans"/>
              </a:rPr>
              <a:t>Dialogue State management 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124" name="CustomShape 88"/>
          <p:cNvSpPr/>
          <p:nvPr/>
        </p:nvSpPr>
        <p:spPr>
          <a:xfrm>
            <a:off x="5723640" y="5007240"/>
            <a:ext cx="9460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prstDash val="dashDot"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5" name="CustomShape 89"/>
          <p:cNvSpPr/>
          <p:nvPr/>
        </p:nvSpPr>
        <p:spPr>
          <a:xfrm rot="16200000" flipH="1">
            <a:off x="8292960" y="565200"/>
            <a:ext cx="6480" cy="5608440"/>
          </a:xfrm>
          <a:prstGeom prst="bentConnector3">
            <a:avLst>
              <a:gd name="adj1" fmla="val 3824947"/>
            </a:avLst>
          </a:prstGeom>
          <a:noFill/>
          <a:ln w="19080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6" name="CustomShape 90"/>
          <p:cNvSpPr/>
          <p:nvPr/>
        </p:nvSpPr>
        <p:spPr>
          <a:xfrm flipH="1" flipV="1">
            <a:off x="7367760" y="3346920"/>
            <a:ext cx="5040" cy="27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accent1"/>
            </a:solidFill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7" name="CustomShape 91"/>
          <p:cNvSpPr/>
          <p:nvPr/>
        </p:nvSpPr>
        <p:spPr>
          <a:xfrm flipH="1" flipV="1">
            <a:off x="9200160" y="3375360"/>
            <a:ext cx="5040" cy="27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accent1"/>
            </a:solidFill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8" name="CustomShape 92"/>
          <p:cNvSpPr/>
          <p:nvPr/>
        </p:nvSpPr>
        <p:spPr>
          <a:xfrm rot="10800000">
            <a:off x="1934640" y="5817960"/>
            <a:ext cx="416880" cy="1008720"/>
          </a:xfrm>
          <a:prstGeom prst="bentConnector2">
            <a:avLst/>
          </a:prstGeom>
          <a:noFill/>
          <a:ln w="19080">
            <a:solidFill>
              <a:schemeClr val="accent1"/>
            </a:solidFill>
            <a:prstDash val="dash"/>
            <a:round/>
            <a:head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9" name="Line 93"/>
          <p:cNvSpPr/>
          <p:nvPr/>
        </p:nvSpPr>
        <p:spPr>
          <a:xfrm flipH="1">
            <a:off x="3452760" y="3917880"/>
            <a:ext cx="10415520" cy="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0" name="CustomShape 94"/>
          <p:cNvSpPr/>
          <p:nvPr/>
        </p:nvSpPr>
        <p:spPr>
          <a:xfrm>
            <a:off x="6345000" y="6826680"/>
            <a:ext cx="1242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accent1"/>
            </a:solidFill>
            <a:prstDash val="dash"/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1" name="CustomShape 95"/>
          <p:cNvSpPr/>
          <p:nvPr/>
        </p:nvSpPr>
        <p:spPr>
          <a:xfrm rot="5400000" flipH="1" flipV="1">
            <a:off x="10756800" y="5719680"/>
            <a:ext cx="1486800" cy="1392480"/>
          </a:xfrm>
          <a:prstGeom prst="bentConnector3">
            <a:avLst>
              <a:gd name="adj1" fmla="val 13113"/>
            </a:avLst>
          </a:prstGeom>
          <a:noFill/>
          <a:ln w="19080">
            <a:solidFill>
              <a:schemeClr val="accent1"/>
            </a:solidFill>
            <a:prstDash val="dash"/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2" name="CustomShape 96"/>
          <p:cNvSpPr/>
          <p:nvPr/>
        </p:nvSpPr>
        <p:spPr>
          <a:xfrm>
            <a:off x="234720" y="833760"/>
            <a:ext cx="11858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4472C4"/>
                </a:solidFill>
                <a:latin typeface="Calibri"/>
                <a:ea typeface="DejaVu Sans"/>
              </a:rPr>
              <a:t>Pipeline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3" name="CustomShape 97"/>
          <p:cNvSpPr/>
          <p:nvPr/>
        </p:nvSpPr>
        <p:spPr>
          <a:xfrm>
            <a:off x="362160" y="6240600"/>
            <a:ext cx="11858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4472C4"/>
                </a:solidFill>
                <a:latin typeface="Calibri"/>
                <a:ea typeface="DejaVu Sans"/>
              </a:rPr>
              <a:t>System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4" name="CustomShape 98"/>
          <p:cNvSpPr/>
          <p:nvPr/>
        </p:nvSpPr>
        <p:spPr>
          <a:xfrm>
            <a:off x="5715720" y="4689360"/>
            <a:ext cx="9460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prstDash val="dashDot"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5" name="CustomShape 99"/>
          <p:cNvSpPr/>
          <p:nvPr/>
        </p:nvSpPr>
        <p:spPr>
          <a:xfrm>
            <a:off x="9195840" y="4872240"/>
            <a:ext cx="765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prstDash val="dashDot"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6" name="CustomShape 100"/>
          <p:cNvSpPr/>
          <p:nvPr/>
        </p:nvSpPr>
        <p:spPr>
          <a:xfrm>
            <a:off x="9195840" y="5965200"/>
            <a:ext cx="2145960" cy="1048320"/>
          </a:xfrm>
          <a:prstGeom prst="bentConnector3">
            <a:avLst>
              <a:gd name="adj1" fmla="val 99632"/>
            </a:avLst>
          </a:prstGeom>
          <a:noFill/>
          <a:ln w="19080">
            <a:solidFill>
              <a:schemeClr val="accent1"/>
            </a:solidFill>
            <a:prstDash val="dash"/>
            <a:round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37" name="CustomShape 101"/>
          <p:cNvSpPr/>
          <p:nvPr/>
        </p:nvSpPr>
        <p:spPr>
          <a:xfrm>
            <a:off x="3076920" y="7655096"/>
            <a:ext cx="998712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ptos"/>
                <a:ea typeface="DejaVu Sans"/>
              </a:rPr>
              <a:t>Figure 1: Proposed Experimental Framework for an AI-Powered Arabic Voice Agent</a:t>
            </a:r>
            <a:endParaRPr lang="en-US" sz="1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139" name="CustomShape 103"/>
          <p:cNvSpPr/>
          <p:nvPr/>
        </p:nvSpPr>
        <p:spPr>
          <a:xfrm>
            <a:off x="875520" y="191124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📄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0" name="CustomShape 104"/>
          <p:cNvSpPr/>
          <p:nvPr/>
        </p:nvSpPr>
        <p:spPr>
          <a:xfrm>
            <a:off x="852480" y="222336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📋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1" name="CustomShape 105"/>
          <p:cNvSpPr/>
          <p:nvPr/>
        </p:nvSpPr>
        <p:spPr>
          <a:xfrm>
            <a:off x="867960" y="251028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❓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2" name="CustomShape 106"/>
          <p:cNvSpPr/>
          <p:nvPr/>
        </p:nvSpPr>
        <p:spPr>
          <a:xfrm>
            <a:off x="822240" y="293112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🗣️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3" name="CustomShape 107"/>
          <p:cNvSpPr/>
          <p:nvPr/>
        </p:nvSpPr>
        <p:spPr>
          <a:xfrm>
            <a:off x="673920" y="477612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✂️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4" name="CustomShape 108"/>
          <p:cNvSpPr/>
          <p:nvPr/>
        </p:nvSpPr>
        <p:spPr>
          <a:xfrm>
            <a:off x="691920" y="503244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🔢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5" name="CustomShape 109"/>
          <p:cNvSpPr/>
          <p:nvPr/>
        </p:nvSpPr>
        <p:spPr>
          <a:xfrm>
            <a:off x="699120" y="5369040"/>
            <a:ext cx="40212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555555"/>
                </a:solidFill>
                <a:latin typeface="Arial"/>
              </a:rPr>
              <a:t>💾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46" name="CustomShape 110"/>
          <p:cNvSpPr/>
          <p:nvPr/>
        </p:nvSpPr>
        <p:spPr>
          <a:xfrm>
            <a:off x="6804000" y="4771800"/>
            <a:ext cx="37008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555555"/>
                </a:solidFill>
                <a:latin typeface="Arial"/>
              </a:rPr>
              <a:t>📍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7" name="CustomShape 111"/>
          <p:cNvSpPr/>
          <p:nvPr/>
        </p:nvSpPr>
        <p:spPr>
          <a:xfrm>
            <a:off x="6780960" y="5084280"/>
            <a:ext cx="37008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555555"/>
                </a:solidFill>
                <a:latin typeface="Arial"/>
              </a:rPr>
              <a:t>🧠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8" name="CustomShape 112"/>
          <p:cNvSpPr/>
          <p:nvPr/>
        </p:nvSpPr>
        <p:spPr>
          <a:xfrm>
            <a:off x="6875640" y="5706000"/>
            <a:ext cx="37008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555555"/>
                </a:solidFill>
                <a:latin typeface="Arial"/>
              </a:rPr>
              <a:t>📜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9" name="CustomShape 113"/>
          <p:cNvSpPr/>
          <p:nvPr/>
        </p:nvSpPr>
        <p:spPr>
          <a:xfrm>
            <a:off x="10309680" y="4767480"/>
            <a:ext cx="49680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8B0000"/>
                </a:solidFill>
                <a:latin typeface="Arial"/>
              </a:rPr>
              <a:t>⏱️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0" name="CustomShape 114"/>
          <p:cNvSpPr/>
          <p:nvPr/>
        </p:nvSpPr>
        <p:spPr>
          <a:xfrm>
            <a:off x="7698600" y="6611400"/>
            <a:ext cx="49680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E88D00"/>
                </a:solidFill>
                <a:latin typeface="Arial"/>
              </a:rPr>
              <a:t>🔄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1" name="CustomShape 115"/>
          <p:cNvSpPr/>
          <p:nvPr/>
        </p:nvSpPr>
        <p:spPr>
          <a:xfrm>
            <a:off x="1838160" y="6901920"/>
            <a:ext cx="49680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rgbClr val="1A478A"/>
                </a:solidFill>
                <a:latin typeface="Arial"/>
              </a:rPr>
              <a:t>📊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3" name="CustomShape 117"/>
          <p:cNvSpPr/>
          <p:nvPr/>
        </p:nvSpPr>
        <p:spPr>
          <a:xfrm>
            <a:off x="4008240" y="4316040"/>
            <a:ext cx="527040" cy="4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2E5E8E"/>
                </a:solidFill>
                <a:latin typeface="Arial"/>
              </a:rPr>
              <a:t>🗄️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154" name="CustomShape 118"/>
          <p:cNvSpPr/>
          <p:nvPr/>
        </p:nvSpPr>
        <p:spPr>
          <a:xfrm>
            <a:off x="6793560" y="5387760"/>
            <a:ext cx="37008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555555"/>
                </a:solidFill>
                <a:latin typeface="Arial"/>
              </a:rPr>
              <a:t>⚙️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55" name="CustomShape 119"/>
          <p:cNvSpPr/>
          <p:nvPr/>
        </p:nvSpPr>
        <p:spPr>
          <a:xfrm>
            <a:off x="10342080" y="5100120"/>
            <a:ext cx="4647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8B0000"/>
                </a:solidFill>
                <a:latin typeface="Arial"/>
              </a:rPr>
              <a:t>⚖️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C139F-A282-6DA8-FCBF-4F69EC5FA9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7953" y="1695227"/>
            <a:ext cx="831614" cy="7283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06DAA0-AA0A-E163-8083-AD6158113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78568" y="1679482"/>
            <a:ext cx="917824" cy="8199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</TotalTime>
  <Words>182</Words>
  <Application>Microsoft Office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Hussam Almokayed</dc:creator>
  <dc:description/>
  <cp:lastModifiedBy>Hussam AL-mokayed</cp:lastModifiedBy>
  <cp:revision>26</cp:revision>
  <dcterms:created xsi:type="dcterms:W3CDTF">2026-04-06T21:34:06Z</dcterms:created>
  <dcterms:modified xsi:type="dcterms:W3CDTF">2026-06-21T12:35:04Z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